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960120"/>
            <a:ext cx="1371600" cy="13716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sp>
      <p:pic>
        <p:nvPicPr>
          <p:cNvPr id="3" name="Image 0" descr="C:/Users/Lenovo/tution-management/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60604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Skool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645920" y="3611880"/>
            <a:ext cx="8897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tuition-centre management app — attendance, results, homework,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study material and automatic parent notifications, all from a phone.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985516" y="480060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243050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85516" y="48006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Teacher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34356" y="480060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243050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34356" y="48006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83196" y="480060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243050"/>
          </a:solidFill>
          <a:ln w="12700">
            <a:solidFill>
              <a:srgbClr val="2A6F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83196" y="48006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Parents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71600" y="598932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tution-management-taupe.vercel.app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· Three experiences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only what they need. The head teacher runs the centre, teachers handle daily academics, and every student gets a personal app — no logins for students, just a code.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517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6F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651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👑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Teacher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control: staff approvals, fees, branches, subjects, timetable editing, weekly reports and rankings.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25112" y="228600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4645152" y="26517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A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2651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🧑‍🏫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45152" y="36576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45152" y="4160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teaching tools: attendance, results, homework, study material and reminders — nothing they shouldn’t touch.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01584" y="228600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421624" y="2651760"/>
            <a:ext cx="77724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96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2651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🎒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21624" y="36576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Parent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21624" y="4160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 with attendance, marks, rank, timetable, homework, material, fee status and live notifications.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Multi-centre by design: every tuition centre gets its own private space — data never crosses centres.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safe sign-in for everyone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9110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8992" y="1865376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sign in with Google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157984"/>
            <a:ext cx="5321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passwords to manage. The first person to create a centre becomes its Head Teacher.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9352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78992" y="2889504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6-letter join code for teachers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182112"/>
            <a:ext cx="5321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shares a code (e.g. AB4K9Q). Teachers join with it and wait for approval — they see nothing until the head approves them.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9593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🎫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8992" y="3913632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use a personal code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4206240"/>
            <a:ext cx="5321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gets a TUT-XXXXXXXX code. No account, no email — enter the code once and the phone remembers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92624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49834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8992" y="4937760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approves every teacher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78992" y="5230368"/>
            <a:ext cx="5321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pending teacher can’t view students, marks or fees. Approve, reject or remove staff any time.</a:t>
            </a:r>
            <a:endParaRPr lang="en-US" sz="1250" dirty="0"/>
          </a:p>
        </p:txBody>
      </p:sp>
      <p:pic>
        <p:nvPicPr>
          <p:cNvPr id="20" name="Image 0" descr="C:\Users\Lenovo\AppData\Local\Temp\claude\C--Users-Lenovo-wilourin-luxury\94add7d5-7453-43bb-9627-3cc6e514b16c\scratchpad\sho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  <p:pic>
        <p:nvPicPr>
          <p:cNvPr id="21" name="Image 1" descr="C:\Users\Lenovo\AppData\Local\Temp\claude\C--Users-Lenovo-wilourin-luxury\94add7d5-7453-43bb-9627-3cc6e514b16c\scratchpad\shots/staff-approv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matters, on one screen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8196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8992" y="1773936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centre stats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066544"/>
            <a:ext cx="7333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today and total students, updated in real time as data changes.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7340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⚡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78992" y="2688336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2980944"/>
            <a:ext cx="7333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Results, Assignment and Reminder are one tap from home.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6484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🗓️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8992" y="3602736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schedule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3895344"/>
            <a:ext cx="7333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day’s periods with live status — Done, Ongoing, or upcoming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45628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8992" y="4517136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switcher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78992" y="4809744"/>
            <a:ext cx="7333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centres switch context from the chip at the top.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54772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🔔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78992" y="5431536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78992" y="5724144"/>
            <a:ext cx="7333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gets a push notification the moment a teacher requests access.</a:t>
            </a:r>
            <a:endParaRPr lang="en-US" sz="1250" dirty="0"/>
          </a:p>
        </p:txBody>
      </p:sp>
      <p:pic>
        <p:nvPicPr>
          <p:cNvPr id="24" name="Image 0" descr="C:\Users\Lenovo\AppData\Local\Temp\claude\C--Users-Lenovo-wilourin-luxury\94add7d5-7453-43bb-9627-3cc6e514b16c\scratchpad\sho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325880"/>
            <a:ext cx="2514600" cy="54406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once — it repeats every week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8653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📅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8992" y="1819656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weekly schedule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112264"/>
            <a:ext cx="7333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 are stored per weekday (Mon–Sat), so one setup covers the whole month or year. No re-entering, no daily spam.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9077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✏️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78992" y="2862072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Head-only editing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154680"/>
            <a:ext cx="7333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Head Teacher can add, edit (✎) or remove (×) periods. Teachers and students always see the current schedule.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9502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🎨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8992" y="3904488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period types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4197096"/>
            <a:ext cx="7333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free periods and special slots (tests, doubt sessions, meetings) are color-coded automatically.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01768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49926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8992" y="4946904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stays in sync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78992" y="5239512"/>
            <a:ext cx="7333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appears for every teacher and student the next time they open the app — silently, no notification noise.</a:t>
            </a:r>
            <a:endParaRPr lang="en-US" sz="1250" dirty="0"/>
          </a:p>
        </p:txBody>
      </p:sp>
      <p:pic>
        <p:nvPicPr>
          <p:cNvPr id="20" name="Image 0" descr="C:\Users\Lenovo\AppData\Local\Temp\claude\C--Users-Lenovo-wilourin-luxury\94add7d5-7453-43bb-9627-3cc6e514b16c\scratchpad\shots/time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325880"/>
            <a:ext cx="2514600" cy="54406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per student — parents know instantly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8653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8992" y="1819656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Tap-to-mark by class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112264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class, tap absentees, save. Present/absent counts update live.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9077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🟡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78992" y="2862072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auto-notification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154680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absent student’s phone gets “Marked absent today” the moment attendance is saved — in-app and on the lock screen.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9502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📈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8992" y="3904488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percentages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4197096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student’s attendance % is computed from real records and shown on their profile and dashboard.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01768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49926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🗂️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8992" y="4946904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78992" y="5239512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their own day-by-day attendance log in their app.</a:t>
            </a:r>
            <a:endParaRPr lang="en-US" sz="1250" dirty="0"/>
          </a:p>
        </p:txBody>
      </p:sp>
      <p:pic>
        <p:nvPicPr>
          <p:cNvPr id="20" name="Image 0" descr="C:\Users\Lenovo\AppData\Local\Temp\claude\C--Users-Lenovo-wilourin-luxury\94add7d5-7453-43bb-9627-3cc6e514b16c\scratchpad\shots/atten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  <p:pic>
        <p:nvPicPr>
          <p:cNvPr id="21" name="Image 1" descr="C:\Users\Lenovo\AppData\Local\Temp\claude\C--Users-Lenovo-wilourin-luxury\94add7d5-7453-43bb-9627-3cc6e514b16c\scratchpad\shots/stu-attend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RANKINGS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marks — rankings build themselves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8653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8992" y="1819656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results per test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112264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class, subject, test name and max marks; type each student’s score in one list.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9077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📣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78992" y="2862072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notified automatically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154680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sends “New results published” to every student in that class — no extra step.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9502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8992" y="3904488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Auto-computed rankings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4197096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leaderboards from all test data. Students see their own class rank.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01768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49926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8992" y="4946904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report view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78992" y="5239512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sees marks per test, per subject, with monthly averages.</a:t>
            </a:r>
            <a:endParaRPr lang="en-US" sz="1250" dirty="0"/>
          </a:p>
        </p:txBody>
      </p:sp>
      <p:pic>
        <p:nvPicPr>
          <p:cNvPr id="20" name="Image 0" descr="C:\Users\Lenovo\AppData\Local\Temp\claude\C--Users-Lenovo-wilourin-luxury\94add7d5-7453-43bb-9627-3cc6e514b16c\scratchpad\shots/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  <p:pic>
        <p:nvPicPr>
          <p:cNvPr id="21" name="Image 1" descr="C:\Users\Lenovo\AppData\Local\Temp\claude\C--Users-Lenovo-wilourin-luxury\94add7d5-7453-43bb-9627-3cc6e514b16c\scratchpad\shots/rank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STUDY MATERIAL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work and share notes in seconds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8653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📚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8992" y="1819656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with due dates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112264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subject, class, due date and instructions — the class is push-notified on creation.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9077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78992" y="2862072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share material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154680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note (free), attach a PDF/image up to 10 MB, or paste a YouTube/Drive link.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9502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🔔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8992" y="3904488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“New material” badge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4197096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a red badge on Material when something new arrives, plus a push notification.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01768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49926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🎯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8992" y="4946904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Class-targeted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78992" y="5239512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goes only to the selected class — Class 10-B homework never reaches Class 9.</a:t>
            </a:r>
            <a:endParaRPr lang="en-US" sz="1250" dirty="0"/>
          </a:p>
        </p:txBody>
      </p:sp>
      <p:pic>
        <p:nvPicPr>
          <p:cNvPr id="20" name="Image 0" descr="C:\Users\Lenovo\AppData\Local\Temp\claude\C--Users-Lenovo-wilourin-luxury\94add7d5-7453-43bb-9627-3cc6e514b16c\scratchpad\shots/assign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  <p:pic>
        <p:nvPicPr>
          <p:cNvPr id="21" name="Image 1" descr="C:\Users\Lenovo\AppData\Local\Temp\claude\C--Users-Lenovo-wilourin-luxury\94add7d5-7453-43bb-9627-3cc6e514b16c\scratchpad\shots/no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talks to parents so you don’t have 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8653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🤖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8992" y="1819656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on every action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112264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Homework, results, study material and absences notify the right students instantly — zero extra work for teachers.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9077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78992" y="2862072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reminders when needed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154680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Fee, test, absence or custom reminders — target all students, one class, absentees only, or fees-due only.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9502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📱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8992" y="3904488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lock-screen push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4197096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Web-push to the student’s phone, even when the app is closed. Install to home screen and it looks like a native app named “Second Skool”.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01768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49926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🗞️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8992" y="4946904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inbox too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78992" y="5239512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notification also lands in the student’s notification feed with time stamps.</a:t>
            </a:r>
            <a:endParaRPr lang="en-US" sz="1250" dirty="0"/>
          </a:p>
        </p:txBody>
      </p:sp>
      <p:pic>
        <p:nvPicPr>
          <p:cNvPr id="20" name="Image 0" descr="C:\Users\Lenovo\AppData\Local\Temp\claude\C--Users-Lenovo-wilourin-luxury\94add7d5-7453-43bb-9627-3cc6e514b16c\scratchpad\shots/remin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  <p:pic>
        <p:nvPicPr>
          <p:cNvPr id="21" name="Image 1" descr="C:\Users\Lenovo\AppData\Local\Temp\claude\C--Users-Lenovo-wilourin-luxury\94add7d5-7453-43bb-9627-3cc6e514b16c\scratchpad\shots/stu-notific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FEES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and collections, fully controlled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8653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🧑‍🎓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8992" y="1819656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student profiles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112264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school, class, batch, branch, parent contact, address — plus their personal access code, generated automatically.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9077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💳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78992" y="2862072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tracking per student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154680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fee records with due dates. Mark paid/due; overdue students are flagged. Heads only — teachers never see fees.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9502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🔎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8992" y="3904488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4197096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student instantly; filter by class.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01768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49926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8992" y="4946904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their dues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78992" y="5239512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fee-due banner with amount and date shows on the student’s home screen, with full payment history.</a:t>
            </a:r>
            <a:endParaRPr lang="en-US" sz="1250" dirty="0"/>
          </a:p>
        </p:txBody>
      </p:sp>
      <p:pic>
        <p:nvPicPr>
          <p:cNvPr id="20" name="Image 0" descr="C:\Users\Lenovo\AppData\Local\Temp\claude\C--Users-Lenovo-wilourin-luxury\94add7d5-7453-43bb-9627-3cc6e514b16c\scratchpad\shots/stud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  <p:pic>
        <p:nvPicPr>
          <p:cNvPr id="21" name="Image 1" descr="C:\Users\Lenovo\AppData\Local\Temp\claude\C--Users-Lenovo-wilourin-luxury\94add7d5-7453-43bb-9627-3cc6e514b16c\scratchpad\shots/stu-fe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how the centre is doing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8196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8992" y="1773936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report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066544"/>
            <a:ext cx="7333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new joiners, staff, attendance % and fees collected vs pending — per branch.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7340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🧒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78992" y="2688336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report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2980944"/>
            <a:ext cx="7333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tests taken and average score for every student, week or month.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6484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🧑‍🏫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8992" y="3602736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activity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3895344"/>
            <a:ext cx="7333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marked attendance, entered tests and created assignments — accountability at a glance.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45628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8992" y="4517136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WhatsApp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78992" y="4809744"/>
            <a:ext cx="7333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formats the whole report as a WhatsApp message — share with yourself or a co-owner.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54772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78992" y="5431536"/>
            <a:ext cx="7333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/ Month toggle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78992" y="5724144"/>
            <a:ext cx="7333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last 7 days and last 30 days instantly.</a:t>
            </a:r>
            <a:endParaRPr lang="en-US" sz="1250" dirty="0"/>
          </a:p>
        </p:txBody>
      </p:sp>
      <p:pic>
        <p:nvPicPr>
          <p:cNvPr id="24" name="Image 0" descr="C:\Users\Lenovo\AppData\Local\Temp\claude\C--Users-Lenovo-wilourin-luxury\94add7d5-7453-43bb-9627-3cc6e514b16c\scratchpad\shots/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325880"/>
            <a:ext cx="2514600" cy="54406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&amp; BRANCHES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 beyond one classroom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18653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🏫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8992" y="1819656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centre is private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112264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centre and it’s a sealed space — students, marks and fees are invisible to every other centre using the app.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29077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🔗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78992" y="2862072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your team with a code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154680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join code; approve teachers as they arrive. Promote a trusted teacher to head, or remove access instantly.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9502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78992" y="3904488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branches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4197096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each location’s students, staff and fees separately, with per-branch reporting.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01768"/>
            <a:ext cx="402336" cy="402336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49926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8992" y="4946904"/>
            <a:ext cx="532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subjects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78992" y="5239512"/>
            <a:ext cx="5321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subjects you actually teach — timetable, results and rankings all follow them.</a:t>
            </a:r>
            <a:endParaRPr lang="en-US" sz="1250" dirty="0"/>
          </a:p>
        </p:txBody>
      </p:sp>
      <p:pic>
        <p:nvPicPr>
          <p:cNvPr id="20" name="Image 0" descr="C:\Users\Lenovo\AppData\Local\Temp\claude\C--Users-Lenovo-wilourin-luxury\94add7d5-7453-43bb-9627-3cc6e514b16c\scratchpad\shots/bran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  <p:pic>
        <p:nvPicPr>
          <p:cNvPr id="21" name="Image 1" descr="C:\Users\Lenovo\AppData\Local\Temp\claude\C--Users-Lenovo-wilourin-luxury\94add7d5-7453-43bb-9627-3cc6e514b16c\scratchpad\shots/m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325880"/>
            <a:ext cx="2304288" cy="49834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 &amp; PARENTS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app for every student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rank up front, a monthly summary card, fee dues, homework, timetable, results and material — everything a parent asks about, answered by the app.</a:t>
            </a:r>
            <a:endParaRPr lang="en-US" sz="1450" dirty="0"/>
          </a:p>
        </p:txBody>
      </p:sp>
      <p:pic>
        <p:nvPicPr>
          <p:cNvPr id="5" name="Image 0" descr="C:\Users\Lenovo\AppData\Local\Temp\claude\C--Users-Lenovo-wilourin-luxury\94add7d5-7453-43bb-9627-3cc6e514b16c\scratchpad\shots/stu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148840"/>
            <a:ext cx="2084832" cy="450799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  <p:pic>
        <p:nvPicPr>
          <p:cNvPr id="6" name="Image 1" descr="C:\Users\Lenovo\AppData\Local\Temp\claude\C--Users-Lenovo-wilourin-luxury\94add7d5-7453-43bb-9627-3cc6e514b16c\scratchpad\shots/stu-time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148840"/>
            <a:ext cx="2084832" cy="450799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  <p:pic>
        <p:nvPicPr>
          <p:cNvPr id="7" name="Image 2" descr="C:\Users\Lenovo\AppData\Local\Temp\claude\C--Users-Lenovo-wilourin-luxury\94add7d5-7453-43bb-9627-3cc6e514b16c\scratchpad\shots/stu-resul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2148840"/>
            <a:ext cx="2084832" cy="450799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  <p:pic>
        <p:nvPicPr>
          <p:cNvPr id="8" name="Image 3" descr="C:\Users\Lenovo\AppData\Local\Temp\claude\C--Users-Lenovo-wilourin-luxury\94add7d5-7453-43bb-9627-3cc6e514b16c\scratchpad\shots/stu-assign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36" y="2148840"/>
            <a:ext cx="2084832" cy="4507992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A2332">
                <a:alpha val="28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like a real product, not a demo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298448"/>
          </a:xfrm>
          <a:prstGeom prst="roundRect">
            <a:avLst>
              <a:gd name="adj" fmla="val 845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110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9293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240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database row is locked to its centre. Even a bug in the app can’t leak another centre’s data — the database itself refuses.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486400" cy="1298448"/>
          </a:xfrm>
          <a:prstGeom prst="roundRect">
            <a:avLst>
              <a:gd name="adj" fmla="val 8451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6473952" y="19110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40880" y="19293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enforcement everywhere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040880" y="2240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teachers can’t read anything. Fees are head-only. Students can only ever fetch their own record.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64408"/>
            <a:ext cx="5486400" cy="1298448"/>
          </a:xfrm>
          <a:prstGeom prst="roundRect">
            <a:avLst>
              <a:gd name="adj" fmla="val 8451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410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student codes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37216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guessing is throttled at the database level, and codes are long random strings — not guessable serials.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264408"/>
            <a:ext cx="5486400" cy="1298448"/>
          </a:xfrm>
          <a:prstGeom prst="roundRect">
            <a:avLst>
              <a:gd name="adj" fmla="val 8451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40880" y="3410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inputs, scoped outputs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040880" y="37216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is authenticated, size-capped and validated; responses return only the fields each role needs.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45736"/>
            <a:ext cx="5486400" cy="1298448"/>
          </a:xfrm>
          <a:prstGeom prst="roundRect">
            <a:avLst>
              <a:gd name="adj" fmla="val 8451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873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4892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passwords stored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0160" y="520293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auth is Google OAuth; server keys (VAPID, service role) live only in server environment variables.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745736"/>
            <a:ext cx="5486400" cy="1298448"/>
          </a:xfrm>
          <a:prstGeom prst="roundRect">
            <a:avLst>
              <a:gd name="adj" fmla="val 8451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873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40880" y="4892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&amp; verified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040880" y="520293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automated tests, zero-error builds and repeated security audits before every release.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2976" y="914400"/>
            <a:ext cx="1143000" cy="1143000"/>
          </a:xfrm>
          <a:prstGeom prst="roundRect">
            <a:avLst>
              <a:gd name="adj" fmla="val 21600"/>
            </a:avLst>
          </a:prstGeom>
          <a:solidFill>
            <a:srgbClr val="FFFFFF"/>
          </a:solidFill>
          <a:ln/>
        </p:spPr>
      </p:sp>
      <p:pic>
        <p:nvPicPr>
          <p:cNvPr id="3" name="Image 0" descr="C:/Users/Lenovo/tution-management/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10287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377440"/>
            <a:ext cx="9445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your centre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828800" y="3291840"/>
            <a:ext cx="8531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phone — no app store, no installs, no per-student accounts.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 to the home screen and it behaves like a native app.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85316" y="4343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A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385316" y="4937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screens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808476" y="4343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A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3808476" y="4937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one app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31636" y="4343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A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6231636" y="4937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for students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54796" y="4343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A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654796" y="4937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visibility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371600" y="59436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tution-management-taupe.vercel.app   ·   WhatsApp +91 81400 81461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2026-07-11T16:34:35Z</dcterms:created>
  <dcterms:modified xsi:type="dcterms:W3CDTF">2026-07-11T16:34:35Z</dcterms:modified>
</cp:coreProperties>
</file>